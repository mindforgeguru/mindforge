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6012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2402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5F7FA"/>
                </a:solidFill>
                <a:latin typeface="Calibri"/>
              </a:rPr>
              <a:t>MIND FORGE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9AA8BD"/>
                </a:solidFill>
                <a:latin typeface="Calibri"/>
              </a:rPr>
              <a:t>An AI-powered school platform — tests from any PDF,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AA8BD"/>
                </a:solidFill>
                <a:latin typeface="Calibri"/>
              </a:rPr>
              <a:t>auto-graded, with real-time visibility for parents and admins.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9F1C"/>
                </a:solidFill>
                <a:latin typeface="Calibri"/>
              </a:rPr>
              <a:t>Teacher  ·  Student  ·  Parent  ·  Admin — one mobile app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Flutter + FastAPI  ·  Live / In Production  ·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215" y="60807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Chinmay Jobanputra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Mid-sized schools run on a patchwork of disconnected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2606040" cy="17830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82296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03704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Teachers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Hours hand-grading tests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Paper attendance registers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Chasing homework by hand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65960"/>
            <a:ext cx="2606040" cy="17830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965960"/>
            <a:ext cx="82296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203704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Students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Deadlines lost in WhatsApp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Test prep disconnected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from class material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65960"/>
            <a:ext cx="2606040" cy="17830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82296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203704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Parents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Find out only at quarterly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PTMs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Paper receipts &amp; report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65960"/>
            <a:ext cx="2606040" cy="17830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965960"/>
            <a:ext cx="82296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203704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Admins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Excel sheets for fees,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timetables, year rollover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No single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No single, affordable platform ties AI assessment, attendance, fees, 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parent communication together for Indian secondary schools (grades 8–10).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02 / 12</a:t>
            </a:r>
          </a:p>
        </p:txBody>
      </p:sp>
      <p:pic>
        <p:nvPicPr>
          <p:cNvPr id="19" name="Picture 18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One app. Four roles. One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AA8BD"/>
                </a:solidFill>
                <a:latin typeface="Calibri"/>
              </a:rPr>
              <a:t>A teacher turns a PDF chapter into an auto-graded test in minutes — students attempt it on their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AA8BD"/>
                </a:solidFill>
                <a:latin typeface="Calibri"/>
              </a:rPr>
              <a:t>phone, parents see results instantly, admins keep records, fees and timetables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82296" cy="12344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5234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AI Test Generation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PDF → structured test in &lt; 2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514600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514600"/>
            <a:ext cx="82296" cy="12344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75234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Single-Attempt Tests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Can't be gamed by app-killing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14600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514600"/>
            <a:ext cx="82296" cy="1234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752344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Attendance &amp; Timetable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Per-period, holiday-aware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05072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05072"/>
            <a:ext cx="82296" cy="1234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24281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Grades &amp; Reports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Auto-graded + PDF report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4005072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4005072"/>
            <a:ext cx="82296" cy="12344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424281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Fees Module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Structures, dues, payment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005072"/>
            <a:ext cx="3566160" cy="12344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005072"/>
            <a:ext cx="82296" cy="12344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4242816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Broadcasts &amp; Push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FCM notices to school or 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03 / 12</a:t>
            </a:r>
          </a:p>
        </p:txBody>
      </p:sp>
      <p:pic>
        <p:nvPicPr>
          <p:cNvPr id="25" name="Picture 24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FLAGSHIP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From a PDF chapter to a live test in under 2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2084831" cy="2011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2084831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2316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42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16276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Upload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Teacher uploads a PDF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or image of a chapter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3" y="30175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9503" y="2148840"/>
            <a:ext cx="2084831" cy="2011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9503" y="2148840"/>
            <a:ext cx="2084831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45535" y="242316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42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5" y="3063240"/>
            <a:ext cx="16276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OCR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PyMuPDF + Tesseract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extract the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6" y="30175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6" y="2148840"/>
            <a:ext cx="2084831" cy="2011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6" y="2148840"/>
            <a:ext cx="2084831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58" y="242316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42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8" y="3063240"/>
            <a:ext cx="16276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Generate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Gemini 2.5 Flash drafts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MCQ + short-answer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(Groq LLaMA 3.3 fallback)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69" y="30175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8349" y="2148840"/>
            <a:ext cx="2084831" cy="2011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49" y="2148840"/>
            <a:ext cx="2084831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44381" y="242316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426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1" y="3063240"/>
            <a:ext cx="16276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Review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Teacher edits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2" y="30175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9F1C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2" y="2148840"/>
            <a:ext cx="2084831" cy="2011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37772" y="2148840"/>
            <a:ext cx="2084831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93804" y="242316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426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4" y="3063240"/>
            <a:ext cx="16276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F5F7FA"/>
                </a:solidFill>
                <a:latin typeface="Calibri"/>
              </a:rPr>
              <a:t>Auto-grade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Objective graded instantly;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AA8BD"/>
                </a:solidFill>
                <a:latin typeface="Calibri"/>
              </a:rPr>
              <a:t>subjective on one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9F1C"/>
                </a:solidFill>
                <a:latin typeface="Calibri"/>
              </a:rPr>
              <a:t>Why it matters:  no other Indian school information system does AI test generation this fast.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Calibri"/>
              </a:rPr>
              <a:t>Target: under 5 minutes from upload to publish. Test generation runs &lt; 30s for a 5-page PDF.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04 / 12</a:t>
            </a:r>
          </a:p>
        </p:txBody>
      </p:sp>
      <p:pic>
        <p:nvPicPr>
          <p:cNvPr id="31" name="Picture 30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ASSESSMENT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Tests that can't be gamed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5394960" cy="32918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82296" cy="32918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03704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Strict single-attempt enforcement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One attempt only — within a fixed 3-day window.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Closing the app, switching screens, or running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out of time auto-submits with the current state.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A blank or abandoned attempt scores zero —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there is no second try, no app-kill exploit.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Submitted attempts are buffered if the network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drops, so a flaky connection never loses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65960"/>
            <a:ext cx="5394960" cy="32918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82296" cy="32918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2203704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Grading &amp; reporting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Three grade types: online (auto-graded),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offline (teacher-entered), and manual.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Subjective answers graded from a single screen.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Charts and percentage breakdowns on student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and parent dashboards.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Server-generated PDFs (ReportLab): test papers,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AA8BD"/>
                </a:solidFill>
                <a:latin typeface="Calibri"/>
              </a:rPr>
              <a:t>answer keys, and result sheets.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05 / 12</a:t>
            </a:r>
          </a:p>
        </p:txBody>
      </p:sp>
      <p:pic>
        <p:nvPicPr>
          <p:cNvPr id="12" name="Picture 11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FOR THE ENGINEERING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Architecture: an async, horizontally-scalable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27080" cy="868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82296" cy="86868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10469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CC9F0"/>
                </a:solidFill>
                <a:latin typeface="Calibri"/>
              </a:rPr>
              <a:t>MOBILE  —  Flutter (iOS · Android · Web)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Riverpod 2.5 state · go_router 13 · Dio 5.4 (auth + error interceptors) · Firebase Messaging · fl_chart · Material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10927080" cy="868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82296" cy="868680"/>
          </a:xfrm>
          <a:prstGeom prst="rect">
            <a:avLst/>
          </a:prstGeom>
          <a:solidFill>
            <a:srgbClr val="9AA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35224"/>
            <a:ext cx="10469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8BD"/>
                </a:solidFill>
                <a:latin typeface="Calibri"/>
              </a:rPr>
              <a:t>EDGE  —  Nginx reverse proxy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TLS termination · routing · static assets · multi-instance fronting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0927080" cy="86868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49039"/>
            <a:ext cx="82296" cy="8686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3"/>
            <a:ext cx="10469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F1C"/>
                </a:solidFill>
                <a:latin typeface="Calibri"/>
              </a:rPr>
              <a:t>API  —  FastAPI (async Python)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SQLAlchemy 2.0 async + asyncpg · Alembic migrations · role-checked endpoints · WebSocket /ws/{user_id} for live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709160"/>
            <a:ext cx="3502152" cy="91440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09160"/>
            <a:ext cx="82296" cy="9144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55464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DDC97"/>
                </a:solidFill>
                <a:latin typeface="Calibri"/>
              </a:rPr>
              <a:t>PostgreSQL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Primary store · soft-deletes
+ audit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4709160"/>
            <a:ext cx="3502152" cy="91440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4" y="4709160"/>
            <a:ext cx="82296" cy="9144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4855464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DDC97"/>
                </a:solidFill>
                <a:latin typeface="Calibri"/>
              </a:rPr>
              <a:t>Redis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Token revocation +
WebSocket pub/sub fanout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709160"/>
            <a:ext cx="3502152" cy="91440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4709160"/>
            <a:ext cx="82296" cy="9144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4855464"/>
            <a:ext cx="3044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DDC97"/>
                </a:solidFill>
                <a:latin typeface="Calibri"/>
              </a:rPr>
              <a:t>MinIO (S3)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4 buckets: tests, profiles,
PDFs, DB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9AA8BD"/>
                </a:solidFill>
                <a:latin typeface="Calibri"/>
              </a:rPr>
              <a:t>Async end-to-end + Redis pub/sub fanout → scales horizontally across instances.  Docker Compose for local &amp; prod.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06 / 12</a:t>
            </a:r>
          </a:p>
        </p:txBody>
      </p:sp>
      <p:pic>
        <p:nvPicPr>
          <p:cNvPr id="25" name="Picture 24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FOR THE SECURITY OFFICER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Security: defence in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Authentication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MPIN bcrypt-hashed (per-user salt). Designed for parents &amp; younger students who struggle with passwords.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66544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Token model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Short-lived JWT (1 h access / 30 d refresh). Every token has a unique jti.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10712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648456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Revocation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Redis-backed jti blocklist — logout instantly invalidates a token server-side.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10712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410712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648456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Authorization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Role-checked dependencies on every endpoint (admin / teacher / student / parent). Accounts need explicit admin approval before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92624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92624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23036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Transport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TLS everywhere; mobile app CA-pins Let's Encrypt to resist MITM.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992624"/>
            <a:ext cx="5349240" cy="141732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992624"/>
            <a:ext cx="82296" cy="1417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230368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Auditability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Soft-deletes preserved + append-only audit log; Sentry tags errors to the acting user.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07 / 12</a:t>
            </a:r>
          </a:p>
        </p:txBody>
      </p:sp>
      <p:pic>
        <p:nvPicPr>
          <p:cNvPr id="24" name="Picture 23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PRIVACY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Built for minors' data — least privilege by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927080" cy="786384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82296" cy="78638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1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F7FA"/>
                </a:solidFill>
                <a:latin typeface="Calibri"/>
              </a:rPr>
              <a:t>Data minimisation &amp; masking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93391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PII (phone, email) is partially masked for non-privileged views — e.g. +91 98***3210, u***@example.com.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61487"/>
            <a:ext cx="10927080" cy="786384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61487"/>
            <a:ext cx="82296" cy="78638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59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F7FA"/>
                </a:solidFill>
                <a:latin typeface="Calibri"/>
              </a:rPr>
              <a:t>Strict tenancy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880359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Student data is isolated per school. A parent sees only their own linked child — read-only.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48455"/>
            <a:ext cx="10927080" cy="786384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48455"/>
            <a:ext cx="82296" cy="78638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7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F7FA"/>
                </a:solidFill>
                <a:latin typeface="Calibri"/>
              </a:rPr>
              <a:t>Least-privilege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767327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Each role sees exactly what its daily decisions need — nothing more. Enforced server-side, not just in the UI.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35423"/>
            <a:ext cx="10927080" cy="786384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535423"/>
            <a:ext cx="82296" cy="78638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5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F7FA"/>
                </a:solidFill>
                <a:latin typeface="Calibri"/>
              </a:rPr>
              <a:t>Right to erasure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654295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Soft-delete + audit trail balances record-keeping with the ability to remove a user on request.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22391"/>
            <a:ext cx="10927080" cy="786384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422391"/>
            <a:ext cx="82296" cy="78638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3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F7FA"/>
                </a:solidFill>
                <a:latin typeface="Calibri"/>
              </a:rPr>
              <a:t>Published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541263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A written Privacy Policy ships with the app, covering collection, retention, and parental consent.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08 / 12</a:t>
            </a:r>
          </a:p>
        </p:txBody>
      </p:sp>
      <p:pic>
        <p:nvPicPr>
          <p:cNvPr id="26" name="Picture 25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FOR THE CEO — MARKET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A wedge into a fragmented, underserved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606040" cy="16916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606040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67127"/>
            <a:ext cx="2240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9F1C"/>
                </a:solidFill>
                <a:latin typeface="Calibri"/>
              </a:rPr>
              <a:t>8–10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Grades targeted first;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expandable to 6–7, 11–12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74519"/>
            <a:ext cx="2606040" cy="16916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874519"/>
            <a:ext cx="2606040" cy="82296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67127"/>
            <a:ext cx="2240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4CC9F0"/>
                </a:solidFill>
                <a:latin typeface="Calibri"/>
              </a:rPr>
              <a:t>300–1,500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Students per institution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(mid-sized schools)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2606040" cy="16916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2606040" cy="82296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7"/>
            <a:ext cx="2240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DDC97"/>
                </a:solidFill>
                <a:latin typeface="Calibri"/>
              </a:rPr>
              <a:t>&lt; 5 min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Upload → published test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(was hours of grading)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74519"/>
            <a:ext cx="2606040" cy="1691640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874519"/>
            <a:ext cx="2606040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167127"/>
            <a:ext cx="2240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9F1C"/>
                </a:solidFill>
                <a:latin typeface="Calibri"/>
              </a:rPr>
              <a:t>4-in-1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Teacher, student, parent,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9AA8BD"/>
                </a:solidFill>
                <a:latin typeface="Calibri"/>
              </a:rPr>
              <a:t>admin on one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The business case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9AA8BD"/>
                </a:solidFill>
                <a:latin typeface="Calibri"/>
              </a:rPr>
              <a:t>•  Replaces paper registers, WhatsApp groups, and disconnected portals with one affordable subscription.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9AA8BD"/>
                </a:solidFill>
                <a:latin typeface="Calibri"/>
              </a:rPr>
              <a:t>•  AI assessment is the hook; attendance, fees, and parent visibility drive daily stickiness and renewals.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9AA8BD"/>
                </a:solidFill>
                <a:latin typeface="Calibri"/>
              </a:rPr>
              <a:t>•  Tracked metrics: teachers publishing ≥ 1 test/week, daily active parents, time-to-publish, YoY renewal, NPS &gt; 40.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Calibri"/>
              </a:rPr>
              <a:t>•  Mobile-first and MPIN auth — built for the actual humans using it, not IT admins.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09 / 12</a:t>
            </a:r>
          </a:p>
        </p:txBody>
      </p:sp>
      <p:pic>
        <p:nvPicPr>
          <p:cNvPr id="19" name="Picture 18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Five things competitors don't have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27080" cy="749808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93976"/>
            <a:ext cx="402336" cy="402336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2082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AI test generation &lt; 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20824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From any PDF — no other Indian SIS does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10927080" cy="749808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962656"/>
            <a:ext cx="402336" cy="402336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950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Un-gameable assessments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89504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Strict single-attempt; app-killing won't help.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10927080" cy="749808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831336"/>
            <a:ext cx="402336" cy="402336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5818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One 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58184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Teacher, student, parent, admin share one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10927080" cy="749808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700016"/>
            <a:ext cx="402336" cy="402336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62686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Mobile-first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626864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Built for the phone, not a retrofitted web 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10927080" cy="749808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5568696"/>
            <a:ext cx="402336" cy="402336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426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95544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Calibri"/>
              </a:rPr>
              <a:t>Auth for real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495544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Calibri"/>
              </a:rPr>
              <a:t>4-digit MPIN — not built for IT admins.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10 / 12</a:t>
            </a:r>
          </a:p>
        </p:txBody>
      </p:sp>
      <p:pic>
        <p:nvPicPr>
          <p:cNvPr id="26" name="Picture 25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21208"/>
            <a:ext cx="292608" cy="274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9F1C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F7FA"/>
                </a:solidFill>
                <a:latin typeface="Calibri"/>
              </a:rPr>
              <a:t>Live today — with a clear next horizon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94960" cy="3749039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82296" cy="3749039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57984"/>
            <a:ext cx="489204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Shipped &amp; in production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All four role dashboards live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AI test generation + auto-grading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Attendance, timetable, holiday-aware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Fees module + parent visibility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Broadcasts + FCM push notifications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Security hardening (CA pinning, JWT revocation)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April 2026 performance pass — complete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✓  Android release signing —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49240" cy="3749039"/>
          </a:xfrm>
          <a:prstGeom prst="rect">
            <a:avLst/>
          </a:prstGeom>
          <a:solidFill>
            <a:srgbClr val="12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82296" cy="3749039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57984"/>
            <a:ext cx="484632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F5F7FA"/>
                </a:solidFill>
                <a:latin typeface="Calibri"/>
              </a:rPr>
              <a:t>Next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iOS App Store submission (Apple Dev enrolment)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Offline-first test attempts with sync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Parent–teacher 1:1 chat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Multi-language (Hindi + regional)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Admin analytics: cohort &amp; trend reporting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Subject expansion: grades 6–7 and 11–12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9AA8BD"/>
                </a:solidFill>
                <a:latin typeface="Calibri"/>
              </a:rPr>
              <a:t>•  Gamification: student streaks &amp; badges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Calibri"/>
              </a:rPr>
              <a:t>11 / 12</a:t>
            </a:r>
          </a:p>
        </p:txBody>
      </p:sp>
      <p:pic>
        <p:nvPicPr>
          <p:cNvPr id="12" name="Picture 11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135" y="457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dfor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5F7FA"/>
                </a:solidFill>
                <a:latin typeface="Calibri"/>
              </a:rPr>
              <a:t>MIND FORGE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9AA8BD"/>
                </a:solidFill>
                <a:latin typeface="Calibri"/>
              </a:rPr>
              <a:t>AI assessment, attendance, fees and parent visibility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9AA8BD"/>
                </a:solidFill>
                <a:latin typeface="Calibri"/>
              </a:rPr>
              <a:t>in one mobile app, secured for minors'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FF9F1C"/>
                </a:solidFill>
                <a:latin typeface="Calibri"/>
              </a:rPr>
              <a:t>Built end-to-end:  Flutter + FastAPI · Gemini AI · PostgreSQL / Redis / MinIO · Docker.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Calibri"/>
              </a:rPr>
              <a:t>Thank you — happy to take questions, or run a live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Calibri"/>
              </a:rPr>
              <a:t>Chinmay Jobanputra  ·  chinmay1975@gmail.com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